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buNone/>
            </a:pPr>
            <a:r>
              <a:rPr b="0" lang="en-IN" sz="5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5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64475EC-15A2-4D9F-B50C-99C7F9113412}" type="slidenum">
              <a: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311760" y="1106280"/>
            <a:ext cx="8520120" cy="1963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 lnSpcReduction="9999"/>
          </a:bodyPr>
          <a:p>
            <a:pPr indent="0" algn="ctr">
              <a:lnSpc>
                <a:spcPct val="100000"/>
              </a:lnSpc>
              <a:buNone/>
            </a:pPr>
            <a:r>
              <a:rPr b="0" lang="en-IN" sz="120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xx%</a:t>
            </a:r>
            <a:endParaRPr b="0" lang="en-IN" sz="1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311760" y="3152160"/>
            <a:ext cx="8520120" cy="130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47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CC5E066-98FE-4BBC-9B95-632822E5AE85}" type="slidenum">
              <a: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459D04A-D8FB-4D0B-8E67-9F9645380D8E}" type="slidenum">
              <a: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311760" y="2151000"/>
            <a:ext cx="8520120" cy="84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>
              <a:buNone/>
            </a:pPr>
            <a:r>
              <a:rPr b="0" lang="en-IN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7DC5EAB-4911-40C6-BBC1-00BAF8B191D1}" type="slidenum">
              <a: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lnSpcReduction="9999"/>
          </a:bodyPr>
          <a:p>
            <a:pPr indent="0">
              <a:buNone/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3B58862-4293-486D-8058-C3BF222235E6}" type="slidenum">
              <a: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lnSpcReduction="9999"/>
          </a:bodyPr>
          <a:p>
            <a:pPr indent="0">
              <a:buNone/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399960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4832280" y="1152360"/>
            <a:ext cx="399960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071ACBA-4817-4D8E-AE1A-22FC0A1916F6}" type="slidenum">
              <a: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lnSpcReduction="9999"/>
          </a:bodyPr>
          <a:p>
            <a:pPr indent="0">
              <a:buNone/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4799143-420B-443E-9389-E3B076F1E61E}" type="slidenum">
              <a: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311760" y="555480"/>
            <a:ext cx="2807640" cy="7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 fontScale="92500" lnSpcReduction="19999"/>
          </a:bodyPr>
          <a:p>
            <a:pPr indent="0">
              <a:buNone/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311760" y="1389600"/>
            <a:ext cx="2807640" cy="317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3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FD06CBA-B865-4DDD-9C23-D62936056EBA}" type="slidenum">
              <a: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90320" y="450000"/>
            <a:ext cx="6367320" cy="409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>
              <a:buNone/>
            </a:pPr>
            <a:r>
              <a:rPr b="0" lang="en-IN" sz="4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242EF50-F404-4772-A7D0-D4BCABEC8571}" type="slidenum">
              <a: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36;p9"/>
          <p:cNvSpPr/>
          <p:nvPr/>
        </p:nvSpPr>
        <p:spPr>
          <a:xfrm>
            <a:off x="4572000" y="0"/>
            <a:ext cx="4571640" cy="514332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265680" y="1233000"/>
            <a:ext cx="4044960" cy="148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buNone/>
            </a:pPr>
            <a:r>
              <a:rPr b="0" lang="en-IN" sz="4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939560" y="723960"/>
            <a:ext cx="3836520" cy="369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556BE01-F404-4F57-BC79-5BBCA219AB7F}" type="slidenum">
              <a: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body"/>
          </p:nvPr>
        </p:nvSpPr>
        <p:spPr>
          <a:xfrm>
            <a:off x="311760" y="4230720"/>
            <a:ext cx="5998320" cy="60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73CA816-C0B4-4C61-90F9-C3974B5C97ED}" type="slidenum">
              <a: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buNone/>
            </a:pPr>
            <a:endParaRPr b="0" lang="en-IN" sz="52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subTitle"/>
          </p:nvPr>
        </p:nvSpPr>
        <p:spPr>
          <a:xfrm>
            <a:off x="311760" y="2834280"/>
            <a:ext cx="8520120" cy="79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 algn="ctr">
              <a:buNone/>
            </a:pPr>
            <a:endParaRPr b="0" lang="en-IN" sz="2800" strike="noStrike" u="none">
              <a:solidFill>
                <a:schemeClr val="dk2"/>
              </a:solidFill>
              <a:effectLst/>
              <a:uFillTx/>
              <a:latin typeface="Arial"/>
              <a:ea typeface="Arial"/>
            </a:endParaRPr>
          </a:p>
        </p:txBody>
      </p:sp>
      <p:pic>
        <p:nvPicPr>
          <p:cNvPr id="31" name="Google Shape;63;p14" descr=""/>
          <p:cNvPicPr/>
          <p:nvPr/>
        </p:nvPicPr>
        <p:blipFill>
          <a:blip r:embed="rId1"/>
          <a:stretch/>
        </p:blipFill>
        <p:spPr>
          <a:xfrm>
            <a:off x="0" y="3600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" name="Google Shape;64;p14"/>
          <p:cNvSpPr/>
          <p:nvPr/>
        </p:nvSpPr>
        <p:spPr>
          <a:xfrm>
            <a:off x="146520" y="2895480"/>
            <a:ext cx="8759520" cy="200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GB" sz="1800" strike="noStrike" u="none">
                <a:solidFill>
                  <a:srgbClr val="000000"/>
                </a:solidFill>
                <a:effectLst/>
                <a:uFillTx/>
                <a:latin typeface="Google Sans"/>
                <a:ea typeface="Google Sans"/>
              </a:rPr>
              <a:t>Team Details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14400" indent="-343080">
              <a:lnSpc>
                <a:spcPct val="100000"/>
              </a:lnSpc>
              <a:buClr>
                <a:srgbClr val="000000"/>
              </a:buClr>
              <a:buFont typeface="Google Sans"/>
              <a:buAutoNum type="alphaLcPeriod"/>
              <a:tabLst>
                <a:tab algn="l" pos="0"/>
              </a:tabLst>
            </a:pPr>
            <a:r>
              <a:rPr b="1" lang="en-GB" sz="1800" strike="noStrike" u="none">
                <a:solidFill>
                  <a:srgbClr val="000000"/>
                </a:solidFill>
                <a:effectLst/>
                <a:uFillTx/>
                <a:latin typeface="Google Sans"/>
                <a:ea typeface="Google Sans"/>
              </a:rPr>
              <a:t>Team name:Tech Crew 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14400" indent="-343080">
              <a:lnSpc>
                <a:spcPct val="100000"/>
              </a:lnSpc>
              <a:buClr>
                <a:srgbClr val="000000"/>
              </a:buClr>
              <a:buAutoNum type="alphaLcPeriod"/>
              <a:tabLst>
                <a:tab algn="l" pos="0"/>
              </a:tabLst>
            </a:pPr>
            <a:r>
              <a:rPr b="1" lang="en-GB" sz="1800" strike="noStrike" u="none">
                <a:solidFill>
                  <a:srgbClr val="000000"/>
                </a:solidFill>
                <a:effectLst/>
                <a:uFillTx/>
                <a:latin typeface="Google Sans"/>
                <a:ea typeface="Google Sans"/>
              </a:rPr>
              <a:t>Team leader name:Umar Bakhtiyar  </a:t>
            </a:r>
            <a:r>
              <a:rPr b="1" lang="en-GB" sz="1800" strike="noStrike" u="none">
                <a:solidFill>
                  <a:srgbClr val="000000"/>
                </a:solidFill>
                <a:effectLst/>
                <a:uFillTx/>
                <a:latin typeface="Google Sans"/>
                <a:ea typeface="Google Sans"/>
              </a:rPr>
              <a:t>Mulla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14400" indent="-343080">
              <a:lnSpc>
                <a:spcPct val="100000"/>
              </a:lnSpc>
              <a:buClr>
                <a:srgbClr val="000000"/>
              </a:buClr>
              <a:buFont typeface="Google Sans"/>
              <a:buAutoNum type="alphaLcPeriod"/>
              <a:tabLst>
                <a:tab algn="l" pos="0"/>
              </a:tabLst>
            </a:pPr>
            <a:r>
              <a:rPr b="1" lang="en-GB" sz="1800" strike="noStrike" u="none">
                <a:solidFill>
                  <a:srgbClr val="000000"/>
                </a:solidFill>
                <a:effectLst/>
                <a:uFillTx/>
                <a:latin typeface="Google Sans"/>
                <a:ea typeface="Google Sans"/>
              </a:rPr>
              <a:t>Problem Statement: Pata Nahi Jo Pasand Aajaye rakh loo mkc tumhari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69;p15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" name="Google Shape;70;p15"/>
          <p:cNvSpPr/>
          <p:nvPr/>
        </p:nvSpPr>
        <p:spPr>
          <a:xfrm>
            <a:off x="92880" y="581040"/>
            <a:ext cx="8440920" cy="398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</a:pP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🧪 </a:t>
            </a:r>
            <a:r>
              <a:rPr b="1" lang="en-IN" sz="1600" strike="noStrike" u="sng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Unani Medicine Recommendation System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This project is a </a:t>
            </a: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Django-based web app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that provides </a:t>
            </a: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Unani medicine suggestions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using </a:t>
            </a: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Google’s Gemini API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. It combines traditional healing with modern AI to recommend natural remedies for common health issues.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🔧 </a:t>
            </a:r>
            <a:r>
              <a:rPr b="1" lang="en-IN" sz="1600" strike="noStrike" u="sng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Key Features: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User Authentication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: Secure login &amp; registration.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AI Integration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: Gemini API processes user symptoms and returns tailored remedies.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Ingredient Extraction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: System parses responses to list Unani ingredients.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Database Support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: Uses SQLite to store users, chats, and remedy data.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Clean UI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: Built with Django templates, HTML &amp; CSS.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🌿 </a:t>
            </a:r>
            <a:r>
              <a:rPr b="1" lang="en-IN" sz="1600" strike="noStrike" u="sng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Unani Logic: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Illness keywords are mapped to traditional remedies (e.g., </a:t>
            </a:r>
            <a:r>
              <a:rPr b="0" i="1" lang="en-IN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fever → Joshanda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, </a:t>
            </a:r>
            <a:r>
              <a:rPr b="0" i="1" lang="en-IN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headache → Arq Gulab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) based on Unani principles.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This smart fusion of AI and ancient medicine delivers an intuitive and reliable user experience.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75;p16" descr=""/>
          <p:cNvPicPr/>
          <p:nvPr/>
        </p:nvPicPr>
        <p:blipFill>
          <a:blip r:embed="rId1"/>
          <a:stretch/>
        </p:blipFill>
        <p:spPr>
          <a:xfrm>
            <a:off x="4464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" name="Google Shape;76;p16"/>
          <p:cNvSpPr/>
          <p:nvPr/>
        </p:nvSpPr>
        <p:spPr>
          <a:xfrm>
            <a:off x="146160" y="553680"/>
            <a:ext cx="8737200" cy="441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🔍 Opportunities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A.) </a:t>
            </a:r>
            <a:r>
              <a:rPr b="1" lang="en-US" sz="1400" strike="noStrike" u="sng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How is it different from existing ideas?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Most AI health assistants focus on 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modern allopathic treatments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. Our system uniquely combines 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Unani healing principles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with 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AI-driven personalization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, offering natural, side-effect-free remedies. It’s a niche yet unexplored fusion of 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traditional medicine and AI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.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B.) </a:t>
            </a:r>
            <a:r>
              <a:rPr b="1" lang="en-US" sz="1400" strike="noStrike" u="sng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How does it solve the problem?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It helps users get 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quick, reliable, and personalized Unani remedies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for common ailments without needing a physical consultation. Through 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natural language understanding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, it suggests traditional treatments that are 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easily accessible and culturally familiar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.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C.) </a:t>
            </a:r>
            <a:r>
              <a:rPr b="1" lang="en-US" sz="1400" strike="noStrike" u="sng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USP of the Proposed Solution: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First-of-its-kind 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Unani + AI integration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Uses 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Gemini API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for accurate remedy generation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Ingredient extraction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for transparency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Lightweight, user-friendly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web app built in Django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This system modernizes ancient wisdom, making Unani medicine more 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accessible and personalized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for today’s digital users.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81;p17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" name="Google Shape;82;p17"/>
          <p:cNvSpPr/>
          <p:nvPr/>
        </p:nvSpPr>
        <p:spPr>
          <a:xfrm>
            <a:off x="179640" y="731880"/>
            <a:ext cx="8540280" cy="366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</a:pP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✅ </a:t>
            </a:r>
            <a:r>
              <a:rPr b="1" lang="en-US" sz="1600" strike="noStrike" u="sng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Features Offered by the Solution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AutoNum type="arabicPeriod"/>
            </a:pP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User Authentication</a:t>
            </a: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: Secure login and registration system for personalized access.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AutoNum type="arabicPeriod"/>
            </a:pP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AI-Based Remedy Generator</a:t>
            </a: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: Utilizes the </a:t>
            </a: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Gemini API</a:t>
            </a: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to provide Unani remedies for user queries.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AutoNum type="arabicPeriod"/>
            </a:pP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Natural Language Interface</a:t>
            </a: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: Users can ask health-related questions in plain language.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AutoNum type="arabicPeriod"/>
            </a:pP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Ingredient Extraction</a:t>
            </a: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: Clearly lists herbal/natural ingredients in each remedy for transparency and safety.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AutoNum type="arabicPeriod"/>
            </a:pP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Conversation History</a:t>
            </a: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: Tracks previous chats for easy reference and continuity.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AutoNum type="arabicPeriod"/>
            </a:pP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Remedy Storage (Database Integration)</a:t>
            </a: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: Saves user queries, remedies, and conversations in a </a:t>
            </a: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SQLite database</a:t>
            </a: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AutoNum type="arabicPeriod"/>
            </a:pP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Clean UI/UX</a:t>
            </a: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: Simple and user-friendly interface for smooth interaction.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AutoNum type="arabicPeriod"/>
            </a:pP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Fast Response Time</a:t>
            </a: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: Near-instant answers through optimized backend calls.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buNone/>
            </a:pPr>
            <a:endParaRPr b="0" lang="en-IN" sz="52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subTitle"/>
          </p:nvPr>
        </p:nvSpPr>
        <p:spPr>
          <a:xfrm>
            <a:off x="311760" y="2834280"/>
            <a:ext cx="8520120" cy="79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 algn="ctr">
              <a:buNone/>
            </a:pPr>
            <a:endParaRPr b="0" lang="en-IN" sz="2800" strike="noStrike" u="none">
              <a:solidFill>
                <a:schemeClr val="dk2"/>
              </a:solidFill>
              <a:effectLst/>
              <a:uFillTx/>
              <a:latin typeface="Arial"/>
              <a:ea typeface="Arial"/>
            </a:endParaRPr>
          </a:p>
        </p:txBody>
      </p:sp>
      <p:pic>
        <p:nvPicPr>
          <p:cNvPr id="41" name="Google Shape;89;p18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" name="Google Shape;90;p18"/>
          <p:cNvSpPr/>
          <p:nvPr/>
        </p:nvSpPr>
        <p:spPr>
          <a:xfrm>
            <a:off x="142200" y="665280"/>
            <a:ext cx="8858880" cy="373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</a:pP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🔄 </a:t>
            </a:r>
            <a:r>
              <a:rPr b="1" lang="en-US" sz="1600" strike="noStrike" u="sng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Process Flow / Use-Case Explanation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Arial"/>
              <a:buAutoNum type="arabicPeriod"/>
            </a:pP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User Registration/Login</a:t>
            </a:r>
            <a:br>
              <a:rPr sz="1600"/>
            </a:b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Users sign up or log in to access the platform securely.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Arial"/>
              <a:buAutoNum type="arabicPeriod"/>
            </a:pP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Input Query</a:t>
            </a:r>
            <a:br>
              <a:rPr sz="1600"/>
            </a:b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Users enter their health-related query in natural language.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Arial"/>
              <a:buAutoNum type="arabicPeriod"/>
            </a:pP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Query Processing with Gemini API</a:t>
            </a:r>
            <a:br>
              <a:rPr sz="1600"/>
            </a:b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The system sends the query to the </a:t>
            </a: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Gemini AI model</a:t>
            </a: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, which processes it and generates a suitable Unani remedy.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Arial"/>
              <a:buAutoNum type="arabicPeriod"/>
            </a:pP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Response &amp; Remedy Display</a:t>
            </a:r>
            <a:br>
              <a:rPr sz="1600"/>
            </a:b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The AI-generated remedy along with ingredients is displayed to the user.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Arial"/>
              <a:buAutoNum type="arabicPeriod"/>
            </a:pP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Data Storage (SQLite)</a:t>
            </a:r>
            <a:br>
              <a:rPr sz="1600"/>
            </a:b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The query, response, and user details are stored in the database for future reference.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Arial"/>
              <a:buAutoNum type="arabicPeriod"/>
            </a:pP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View Past Conversations</a:t>
            </a:r>
            <a:br>
              <a:rPr sz="1600"/>
            </a:b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Users can review their chat history and remedies anytime.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buNone/>
            </a:pPr>
            <a:endParaRPr b="0" lang="en-IN" sz="52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ubTitle"/>
          </p:nvPr>
        </p:nvSpPr>
        <p:spPr>
          <a:xfrm>
            <a:off x="311760" y="2834280"/>
            <a:ext cx="8520120" cy="79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 algn="ctr">
              <a:buNone/>
            </a:pPr>
            <a:endParaRPr b="0" lang="en-IN" sz="2800" strike="noStrike" u="none">
              <a:solidFill>
                <a:schemeClr val="dk2"/>
              </a:solidFill>
              <a:effectLst/>
              <a:uFillTx/>
              <a:latin typeface="Arial"/>
              <a:ea typeface="Arial"/>
            </a:endParaRPr>
          </a:p>
        </p:txBody>
      </p:sp>
      <p:pic>
        <p:nvPicPr>
          <p:cNvPr id="45" name="Google Shape;105;p20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" name="Google Shape;106;p20"/>
          <p:cNvSpPr/>
          <p:nvPr/>
        </p:nvSpPr>
        <p:spPr>
          <a:xfrm>
            <a:off x="230400" y="518760"/>
            <a:ext cx="8820720" cy="59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Google Sans"/>
                <a:ea typeface="Google Sans"/>
              </a:rPr>
              <a:t>Architecture diagram of the proposed solution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7" name="Picture 2" descr=""/>
          <p:cNvPicPr/>
          <p:nvPr/>
        </p:nvPicPr>
        <p:blipFill>
          <a:blip r:embed="rId2"/>
          <a:stretch/>
        </p:blipFill>
        <p:spPr>
          <a:xfrm>
            <a:off x="1710720" y="1117800"/>
            <a:ext cx="5299560" cy="3533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buNone/>
            </a:pPr>
            <a:endParaRPr b="0" lang="en-IN" sz="52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subTitle"/>
          </p:nvPr>
        </p:nvSpPr>
        <p:spPr>
          <a:xfrm>
            <a:off x="311760" y="2834280"/>
            <a:ext cx="8520120" cy="79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 algn="ctr">
              <a:buNone/>
            </a:pPr>
            <a:endParaRPr b="0" lang="en-IN" sz="2800" strike="noStrike" u="none">
              <a:solidFill>
                <a:schemeClr val="dk2"/>
              </a:solidFill>
              <a:effectLst/>
              <a:uFillTx/>
              <a:latin typeface="Arial"/>
              <a:ea typeface="Arial"/>
            </a:endParaRPr>
          </a:p>
        </p:txBody>
      </p:sp>
      <p:pic>
        <p:nvPicPr>
          <p:cNvPr id="50" name="Google Shape;113;p21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" name="Google Shape;114;p21"/>
          <p:cNvSpPr/>
          <p:nvPr/>
        </p:nvSpPr>
        <p:spPr>
          <a:xfrm>
            <a:off x="158760" y="855360"/>
            <a:ext cx="8784000" cy="25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600" strike="noStrike" u="none">
              <a:solidFill>
                <a:srgbClr val="000000"/>
              </a:solidFill>
              <a:effectLst/>
              <a:uFillTx/>
              <a:latin typeface="Google Sans"/>
              <a:ea typeface="Google Sans"/>
            </a:endParaRPr>
          </a:p>
        </p:txBody>
      </p:sp>
      <p:sp>
        <p:nvSpPr>
          <p:cNvPr id="52" name="Rectangle 1"/>
          <p:cNvSpPr/>
          <p:nvPr/>
        </p:nvSpPr>
        <p:spPr>
          <a:xfrm>
            <a:off x="110880" y="501840"/>
            <a:ext cx="8207640" cy="427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Technologies to be used in the solution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b="1" lang="en-US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Frontend</a:t>
            </a: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: HTML, CSS (for a clean and user-friendly interface)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b="1" lang="en-US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Backend</a:t>
            </a: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: Django – used for building the server-side logic, handling API calls, and managing user sessions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b="1" lang="en-US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Database</a:t>
            </a: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: SQLite – stores user data, conversation history, and Unani remedies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b="1" lang="en-US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Authentication</a:t>
            </a: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: Django's built-in authentication system for secure user login and signup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en-US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AI Integration</a:t>
            </a: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:</a:t>
            </a:r>
            <a:br>
              <a:rPr sz="1600"/>
            </a:b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✅ </a:t>
            </a:r>
            <a:r>
              <a:rPr b="1" lang="en-US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Gemini API (Google Generative AI)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5720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Integrated using the </a:t>
            </a: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Arial Unicode MS"/>
                <a:ea typeface="Arial"/>
              </a:rPr>
              <a:t>google.generativeai</a:t>
            </a: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Python SDK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5720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Powers intelligent, natural language-based recommendations for Unani treatments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5720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Enhances user interaction by generating responses dynamically based on symptoms and user prompts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100000"/>
              </a:lnSpc>
              <a:tabLst>
                <a:tab algn="l" pos="0"/>
              </a:tabLst>
            </a:pP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en-US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IDE</a:t>
            </a: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: Developed locally using Visual Studio Code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buNone/>
            </a:pPr>
            <a:endParaRPr b="0" lang="en-IN" sz="52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subTitle"/>
          </p:nvPr>
        </p:nvSpPr>
        <p:spPr>
          <a:xfrm>
            <a:off x="311760" y="2834280"/>
            <a:ext cx="8520120" cy="79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 algn="ctr">
              <a:buNone/>
            </a:pPr>
            <a:endParaRPr b="0" lang="en-IN" sz="2800" strike="noStrike" u="none">
              <a:solidFill>
                <a:schemeClr val="dk2"/>
              </a:solidFill>
              <a:effectLst/>
              <a:uFillTx/>
              <a:latin typeface="Arial"/>
              <a:ea typeface="Arial"/>
            </a:endParaRPr>
          </a:p>
        </p:txBody>
      </p:sp>
      <p:pic>
        <p:nvPicPr>
          <p:cNvPr id="55" name="Google Shape;129;p23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" name="Google Shape;130;p23"/>
          <p:cNvSpPr/>
          <p:nvPr/>
        </p:nvSpPr>
        <p:spPr>
          <a:xfrm>
            <a:off x="219960" y="855360"/>
            <a:ext cx="8722800" cy="59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Google Sans"/>
                <a:ea typeface="Google Sans"/>
              </a:rPr>
              <a:t>Snapshots of the MVP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buNone/>
            </a:pPr>
            <a:endParaRPr b="0" lang="en-IN" sz="52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subTitle"/>
          </p:nvPr>
        </p:nvSpPr>
        <p:spPr>
          <a:xfrm>
            <a:off x="311760" y="2834280"/>
            <a:ext cx="8520120" cy="79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 algn="ctr">
              <a:buNone/>
            </a:pPr>
            <a:endParaRPr b="0" lang="en-IN" sz="2800" strike="noStrike" u="none">
              <a:solidFill>
                <a:schemeClr val="dk2"/>
              </a:solidFill>
              <a:effectLst/>
              <a:uFillTx/>
              <a:latin typeface="Arial"/>
              <a:ea typeface="Arial"/>
            </a:endParaRPr>
          </a:p>
        </p:txBody>
      </p:sp>
      <p:pic>
        <p:nvPicPr>
          <p:cNvPr id="59" name="Google Shape;137;p24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" name="Google Shape;138;p24"/>
          <p:cNvSpPr/>
          <p:nvPr/>
        </p:nvSpPr>
        <p:spPr>
          <a:xfrm>
            <a:off x="109800" y="781920"/>
            <a:ext cx="8893800" cy="69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Google Sans"/>
              <a:ea typeface="Google Sans"/>
            </a:endParaRPr>
          </a:p>
        </p:txBody>
      </p:sp>
      <p:pic>
        <p:nvPicPr>
          <p:cNvPr id="61" name="Picture 2" descr=""/>
          <p:cNvPicPr/>
          <p:nvPr/>
        </p:nvPicPr>
        <p:blipFill>
          <a:blip r:embed="rId2"/>
          <a:stretch/>
        </p:blipFill>
        <p:spPr>
          <a:xfrm>
            <a:off x="4981680" y="663840"/>
            <a:ext cx="3428640" cy="434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" name="TextBox 3"/>
          <p:cNvSpPr/>
          <p:nvPr/>
        </p:nvSpPr>
        <p:spPr>
          <a:xfrm>
            <a:off x="282600" y="678960"/>
            <a:ext cx="4525920" cy="39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Additional Details / Future Development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Integration of Google Gemini API</a:t>
            </a: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has laid the foundation for intelligent, conversational symptom analysis and remedy suggestions.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Future enhancements may include</a:t>
            </a: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: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Voice input and output</a:t>
            </a: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for accessibility and ease of use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Mobile application version</a:t>
            </a: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for broader reach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Enhanced recommendation engine</a:t>
            </a: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using machine learning models tailored to user history and preferences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Real-time chat with Unani practitioners</a:t>
            </a: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for expert consultation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Integration with electronic health records (EHR)</a:t>
            </a: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for a more personalized experience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Multilingual support</a:t>
            </a: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, enabling users to interact in regional languages for better understanding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Hosting on cloud platforms</a:t>
            </a: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(like Firebase or GCP) for scalability and performance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buNone/>
            </a:pPr>
            <a:endParaRPr b="0" lang="en-IN" sz="52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subTitle"/>
          </p:nvPr>
        </p:nvSpPr>
        <p:spPr>
          <a:xfrm>
            <a:off x="311760" y="2834280"/>
            <a:ext cx="8520120" cy="79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 algn="ctr">
              <a:buNone/>
            </a:pPr>
            <a:endParaRPr b="0" lang="en-IN" sz="2800" strike="noStrike" u="none">
              <a:solidFill>
                <a:schemeClr val="dk2"/>
              </a:solidFill>
              <a:effectLst/>
              <a:uFillTx/>
              <a:latin typeface="Arial"/>
              <a:ea typeface="Arial"/>
            </a:endParaRPr>
          </a:p>
        </p:txBody>
      </p:sp>
      <p:pic>
        <p:nvPicPr>
          <p:cNvPr id="65" name="Google Shape;145;p25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" name="Google Shape;146;p25"/>
          <p:cNvSpPr/>
          <p:nvPr/>
        </p:nvSpPr>
        <p:spPr>
          <a:xfrm>
            <a:off x="146520" y="843120"/>
            <a:ext cx="8832960" cy="63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Google Sans"/>
                <a:ea typeface="Google Sans"/>
              </a:rPr>
              <a:t>Provide links to your: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00000"/>
              </a:lnSpc>
              <a:buClr>
                <a:srgbClr val="000000"/>
              </a:buClr>
              <a:buFont typeface="Google Sans"/>
              <a:buAutoNum type="arabicPeriod"/>
              <a:tabLst>
                <a:tab algn="l" pos="0"/>
              </a:tabLst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Google Sans"/>
                <a:ea typeface="Google Sans"/>
              </a:rPr>
              <a:t>https://github.com/Umar-MultiverseCode/UnaniAi.git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00000"/>
              </a:lnSpc>
              <a:buClr>
                <a:srgbClr val="000000"/>
              </a:buClr>
              <a:buFont typeface="Google Sans"/>
              <a:buAutoNum type="arabicPeriod"/>
              <a:tabLst>
                <a:tab algn="l" pos="0"/>
              </a:tabLst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Google Sans"/>
                <a:ea typeface="Google Sans"/>
              </a:rPr>
              <a:t>https://drive.google.com/file/d/1K30YdngOsLKf7cEpM-s0QCF0A2x-FklU/view?usp=drivesdk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00000"/>
              </a:lnSpc>
              <a:buClr>
                <a:srgbClr val="000000"/>
              </a:buClr>
              <a:buFont typeface="Google Sans"/>
              <a:buAutoNum type="arabicPeriod"/>
              <a:tabLst>
                <a:tab algn="l" pos="0"/>
              </a:tabLst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Google Sans"/>
                <a:ea typeface="Google Sans"/>
              </a:rPr>
              <a:t>https://unaniai.onrender.com/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buNone/>
            </a:pPr>
            <a:endParaRPr b="0" lang="en-IN" sz="52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subTitle"/>
          </p:nvPr>
        </p:nvSpPr>
        <p:spPr>
          <a:xfrm>
            <a:off x="311760" y="2834280"/>
            <a:ext cx="8520120" cy="79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 algn="ctr">
              <a:buNone/>
            </a:pPr>
            <a:endParaRPr b="0" lang="en-IN" sz="2800" strike="noStrike" u="none">
              <a:solidFill>
                <a:schemeClr val="dk2"/>
              </a:solidFill>
              <a:effectLst/>
              <a:uFillTx/>
              <a:latin typeface="Arial"/>
              <a:ea typeface="Arial"/>
            </a:endParaRPr>
          </a:p>
        </p:txBody>
      </p:sp>
      <p:pic>
        <p:nvPicPr>
          <p:cNvPr id="69" name="Google Shape;160;p27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Application>LibreOffice/25.2.1.2$Windows_X86_64 LibreOffice_project/d3abf4aee5fd705e4a92bba33a32f40bc4e56f49</Application>
  <AppVersion>15.0000</AppVersion>
  <Words>804</Words>
  <Paragraphs>80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/>
  <dcterms:modified xsi:type="dcterms:W3CDTF">2025-04-05T23:04:18Z</dcterms:modified>
  <cp:revision>3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11</vt:i4>
  </property>
  <property fmtid="{D5CDD505-2E9C-101B-9397-08002B2CF9AE}" pid="3" name="PresentationFormat">
    <vt:lpwstr>On-screen Show (16:9)</vt:lpwstr>
  </property>
  <property fmtid="{D5CDD505-2E9C-101B-9397-08002B2CF9AE}" pid="4" name="Slides">
    <vt:i4>11</vt:i4>
  </property>
</Properties>
</file>